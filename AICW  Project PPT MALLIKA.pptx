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57" r:id="rId3"/>
    <p:sldId id="258" r:id="rId4"/>
    <p:sldId id="259" r:id="rId5"/>
    <p:sldId id="260" r:id="rId6"/>
    <p:sldId id="261" r:id="rId7"/>
    <p:sldId id="269" r:id="rId8"/>
    <p:sldId id="271" r:id="rId9"/>
    <p:sldId id="270" r:id="rId10"/>
    <p:sldId id="263" r:id="rId11"/>
    <p:sldId id="264" r:id="rId12"/>
    <p:sldId id="265" r:id="rId13"/>
    <p:sldId id="266" r:id="rId14"/>
  </p:sldIdLst>
  <p:sldSz cx="9144000" cy="5143500" type="screen16x9"/>
  <p:notesSz cx="5143500" cy="9144000"/>
  <p:custDataLst>
    <p:tags r:id="rId16"/>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F76B2D-B272-44A4-AF53-77AE9A5CF9EC}" v="3" dt="2026-04-14T06:10:43.4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101"/>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ika s" userId="1e8d0b499702ec95" providerId="LiveId" clId="{97B18325-CED3-4E6A-B54C-CEAC36E183E0}"/>
    <pc:docChg chg="custSel modSld">
      <pc:chgData name="mallika s" userId="1e8d0b499702ec95" providerId="LiveId" clId="{97B18325-CED3-4E6A-B54C-CEAC36E183E0}" dt="2026-04-14T06:11:08.906" v="7" actId="14100"/>
      <pc:docMkLst>
        <pc:docMk/>
      </pc:docMkLst>
      <pc:sldChg chg="addSp delSp modSp mod">
        <pc:chgData name="mallika s" userId="1e8d0b499702ec95" providerId="LiveId" clId="{97B18325-CED3-4E6A-B54C-CEAC36E183E0}" dt="2026-04-14T06:11:08.906" v="7" actId="14100"/>
        <pc:sldMkLst>
          <pc:docMk/>
          <pc:sldMk cId="3647308627" sldId="270"/>
        </pc:sldMkLst>
        <pc:picChg chg="add mod">
          <ac:chgData name="mallika s" userId="1e8d0b499702ec95" providerId="LiveId" clId="{97B18325-CED3-4E6A-B54C-CEAC36E183E0}" dt="2026-04-14T06:10:40.034" v="1"/>
          <ac:picMkLst>
            <pc:docMk/>
            <pc:sldMk cId="3647308627" sldId="270"/>
            <ac:picMk id="2" creationId="{CC2C4EB6-B157-CB34-DEC5-D786BE9D6E51}"/>
          </ac:picMkLst>
        </pc:picChg>
        <pc:picChg chg="add mod">
          <ac:chgData name="mallika s" userId="1e8d0b499702ec95" providerId="LiveId" clId="{97B18325-CED3-4E6A-B54C-CEAC36E183E0}" dt="2026-04-14T06:11:08.906" v="7" actId="14100"/>
          <ac:picMkLst>
            <pc:docMk/>
            <pc:sldMk cId="3647308627" sldId="270"/>
            <ac:picMk id="3" creationId="{01096FD4-7E10-5FE8-B974-1CFC27E03E73}"/>
          </ac:picMkLst>
        </pc:picChg>
        <pc:picChg chg="del">
          <ac:chgData name="mallika s" userId="1e8d0b499702ec95" providerId="LiveId" clId="{97B18325-CED3-4E6A-B54C-CEAC36E183E0}" dt="2026-04-14T06:10:41.862" v="2" actId="478"/>
          <ac:picMkLst>
            <pc:docMk/>
            <pc:sldMk cId="3647308627" sldId="270"/>
            <ac:picMk id="5" creationId="{0FEA421F-9056-3A9A-2085-17BA8378F0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28813-4FBB-2395-424F-328B9796F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50FC4-CDA7-55F3-40E5-50040F4008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432A0-00DE-D97C-8733-FB380C9A9B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9270A-35BF-39E0-566B-7E76890D741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78014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9391D-44C6-1054-9F18-EF123E49E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BF275-0620-72A4-CD11-A4374F2FC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FCA830-F76F-A8FB-EC02-43A051967E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10E78D-D761-8E54-C660-D22546FAD84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34633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019A-96C7-FC15-2538-3D8116FD2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0E334-77AD-7D34-DFA3-864863A80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639E8-67CA-53FF-ECE3-CECC50F2A3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E5059E-3463-5ED3-AABD-727A95C6816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83396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60459" y="3793022"/>
            <a:ext cx="1633432"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Ms.S.MALLIKA</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815951"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smallika5789@gmail.com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Ms,Uma</a:t>
              </a:r>
              <a:r>
                <a:rPr lang="en-US" sz="1200" b="1" dirty="0">
                  <a:solidFill>
                    <a:srgbClr val="0D358D"/>
                  </a:solidFill>
                  <a:latin typeface="Arial" panose="020B0604020202020204" pitchFamily="34" charset="0"/>
                  <a:ea typeface="Aileron Bold"/>
                  <a:cs typeface="Arial" panose="020B0604020202020204" pitchFamily="34" charset="0"/>
                  <a:sym typeface="Aileron Bold"/>
                </a:rPr>
                <a:t> Maheswari R</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59414" y="1082802"/>
            <a:ext cx="6106748" cy="3293209"/>
          </a:xfrm>
          <a:prstGeom prst="rect">
            <a:avLst/>
          </a:prstGeom>
          <a:noFill/>
        </p:spPr>
        <p:txBody>
          <a:bodyPr wrap="square">
            <a:spAutoFit/>
          </a:bodyPr>
          <a:lstStyle/>
          <a:p>
            <a:pPr algn="just">
              <a:spcAft>
                <a:spcPts val="800"/>
              </a:spcAft>
              <a:tabLst>
                <a:tab pos="4229100" algn="ctr"/>
              </a:tabLst>
            </a:pPr>
            <a:r>
              <a:rPr lang="en-US" sz="1600" dirty="0">
                <a:latin typeface="Times New Roman" panose="02020603050405020304" pitchFamily="18" charset="0"/>
                <a:cs typeface="Times New Roman" panose="02020603050405020304" pitchFamily="18" charset="0"/>
              </a:rPr>
              <a:t>This project, developed under the AICW Fellowship Program supported by </a:t>
            </a:r>
            <a:r>
              <a:rPr lang="en-US" sz="1600" dirty="0" err="1">
                <a:latin typeface="Times New Roman" panose="02020603050405020304" pitchFamily="18" charset="0"/>
                <a:cs typeface="Times New Roman" panose="02020603050405020304" pitchFamily="18" charset="0"/>
              </a:rPr>
              <a:t>Edunet</a:t>
            </a:r>
            <a:r>
              <a:rPr lang="en-US" sz="1600" dirty="0">
                <a:latin typeface="Times New Roman" panose="02020603050405020304" pitchFamily="18" charset="0"/>
                <a:cs typeface="Times New Roman" panose="02020603050405020304" pitchFamily="18" charset="0"/>
              </a:rPr>
              <a:t> Foundation with Microsoft, LinkedIn, and SAP, focuses on using Artificial Intelligence and data analytics to enhance student feedback analysis. Traditional systems rely mainly on numerical ratings and often miss insights from qualitative comments. The Student Feedback &amp; Teaching Improvement Analyzer uses sentiment analysis and visualization techniques to evaluate teaching quality and course effectiveness across key parameters like communication, interaction, and practical knowledge. The system provides clear insights through dashboards, helping faculty and administrators make data-driven decisions. This project demonstrates how AI can transform feedback into actionable recommendations, supporting continuous improvement in education..</a:t>
            </a:r>
            <a:endParaRPr lang="en-US" sz="1600" dirty="0">
              <a:latin typeface="Times New Roman" panose="02020603050405020304" pitchFamily="18" charset="0"/>
              <a:ea typeface="+mn-lt"/>
              <a:cs typeface="Times New Roman" panose="02020603050405020304" pitchFamily="18"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6166162" y="1082802"/>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7322234" y="3452739"/>
            <a:ext cx="1513156" cy="1513156"/>
          </a:xfrm>
          <a:prstGeom prst="rect">
            <a:avLst/>
          </a:prstGeom>
        </p:spPr>
      </p:pic>
      <p:sp>
        <p:nvSpPr>
          <p:cNvPr id="4" name="Text 2"/>
          <p:cNvSpPr/>
          <p:nvPr/>
        </p:nvSpPr>
        <p:spPr>
          <a:xfrm>
            <a:off x="120623" y="49874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8" name="TextBox 7">
            <a:extLst>
              <a:ext uri="{FF2B5EF4-FFF2-40B4-BE49-F238E27FC236}">
                <a16:creationId xmlns:a16="http://schemas.microsoft.com/office/drawing/2014/main" id="{F51F569B-6AAE-E152-E30B-585DAB726DF7}"/>
              </a:ext>
            </a:extLst>
          </p:cNvPr>
          <p:cNvSpPr txBox="1"/>
          <p:nvPr/>
        </p:nvSpPr>
        <p:spPr>
          <a:xfrm>
            <a:off x="308610" y="937656"/>
            <a:ext cx="7914126" cy="3782061"/>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Educational institutions rely on student feedback to evaluate teaching quality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data is often large and unstructured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 to extract meaningful insights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proper tools for analysis and visualization</a:t>
            </a:r>
          </a:p>
          <a:p>
            <a:pPr marR="0" lvl="0" algn="l" defTabSz="914400" rtl="0" eaLnBrk="0" fontAlgn="base" latinLnBrk="0" hangingPunct="0">
              <a:lnSpc>
                <a:spcPct val="150000"/>
              </a:lnSpc>
              <a:spcBef>
                <a:spcPct val="0"/>
              </a:spcBef>
              <a:spcAft>
                <a:spcPct val="0"/>
              </a:spcAft>
              <a:buClrTx/>
              <a:buSzTx/>
              <a:tabLst/>
            </a:pPr>
            <a:r>
              <a:rPr kumimoji="0" lang="en-US" altLang="en-US" sz="1800" b="0"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Challenges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Unstructured and qualitative feedback</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analytical capabilities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standardized evaluation system</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interactive dashboards</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7076050" y="3521988"/>
            <a:ext cx="1814732" cy="1555485"/>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8652754" cy="3474720"/>
          </a:xfrm>
          <a:prstGeom prst="rect">
            <a:avLst/>
          </a:prstGeom>
          <a:noFill/>
          <a:ln/>
        </p:spPr>
        <p:txBody>
          <a:bodyPr wrap="square" rtlCol="0" anchor="t"/>
          <a:lstStyle/>
          <a:p>
            <a:r>
              <a:rPr lang="en-US" dirty="0">
                <a:latin typeface="Times New Roman" panose="02020603050405020304" pitchFamily="18" charset="0"/>
                <a:cs typeface="Times New Roman" panose="02020603050405020304" pitchFamily="18" charset="0"/>
              </a:rPr>
              <a:t>To address the challenges in traditional feedback systems, this project proposes the development of an AI-based Student Feedback &amp; Teaching Improvement Analyzer that transforms unstructured student feedback into meaningful insights. The system collects both quantitative ratings and qualitative comments and applies techniques such as sentiment analysis, data analytics, and statistical modeling to evaluate teaching quality and course effectiveness. It provides a comprehensive decision support system for faculty and administrators by identifying strengths, highlighting areas for improvement, and uncovering patterns and trends over time. Additionally, the solution integrates interactive visualizations such as charts and dashboards to present insights in an easy-to-understand manner. This enables institutions to make data-driven decisions, continuously monitor performance, and enhance overall teaching methodologies and student learning outcomes.</a:t>
            </a: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22" name="TextBox 21">
            <a:extLst>
              <a:ext uri="{FF2B5EF4-FFF2-40B4-BE49-F238E27FC236}">
                <a16:creationId xmlns:a16="http://schemas.microsoft.com/office/drawing/2014/main" id="{82A49159-7548-77FC-0BB4-BCC2D98D6142}"/>
              </a:ext>
            </a:extLst>
          </p:cNvPr>
          <p:cNvSpPr txBox="1"/>
          <p:nvPr/>
        </p:nvSpPr>
        <p:spPr>
          <a:xfrm>
            <a:off x="326848" y="1597323"/>
            <a:ext cx="8683510" cy="2308324"/>
          </a:xfrm>
          <a:prstGeom prst="rect">
            <a:avLst/>
          </a:prstGeom>
          <a:noFill/>
        </p:spPr>
        <p:txBody>
          <a:bodyPr wrap="square">
            <a:spAutoFit/>
          </a:bodyPr>
          <a:lstStyle/>
          <a:p>
            <a:r>
              <a:rPr lang="en-US" b="1" dirty="0"/>
              <a:t>1.Data Collection Layer</a:t>
            </a:r>
          </a:p>
          <a:p>
            <a:r>
              <a:rPr lang="en-US" dirty="0"/>
              <a:t>Collects student feedback through surveys/forms </a:t>
            </a:r>
          </a:p>
          <a:p>
            <a:r>
              <a:rPr lang="en-US" dirty="0"/>
              <a:t>Includes </a:t>
            </a:r>
            <a:r>
              <a:rPr lang="en-US" b="1" dirty="0"/>
              <a:t>ratings and textual comments</a:t>
            </a:r>
            <a:r>
              <a:rPr lang="en-US" dirty="0"/>
              <a:t> </a:t>
            </a:r>
          </a:p>
          <a:p>
            <a:r>
              <a:rPr lang="en-US" dirty="0"/>
              <a:t>Stores raw data for further processing </a:t>
            </a:r>
          </a:p>
          <a:p>
            <a:r>
              <a:rPr lang="en-US" b="1" dirty="0"/>
              <a:t>2. Data Preprocessing Layer</a:t>
            </a:r>
          </a:p>
          <a:p>
            <a:r>
              <a:rPr lang="en-US" dirty="0"/>
              <a:t>Cleans and structures the data </a:t>
            </a:r>
          </a:p>
          <a:p>
            <a:r>
              <a:rPr lang="en-US" dirty="0"/>
              <a:t>Removes noise and missing values </a:t>
            </a:r>
          </a:p>
          <a:p>
            <a:r>
              <a:rPr lang="en-US" dirty="0"/>
              <a:t>Converts unstructured text into analyzable format</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560E-F74B-0152-1316-8D14EFB726A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5C1618C-49D2-0B21-79E0-0ED375D9A66F}"/>
              </a:ext>
            </a:extLst>
          </p:cNvPr>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10" name="Shape 8">
            <a:extLst>
              <a:ext uri="{FF2B5EF4-FFF2-40B4-BE49-F238E27FC236}">
                <a16:creationId xmlns:a16="http://schemas.microsoft.com/office/drawing/2014/main" id="{0E1C5337-B79E-C4CC-E321-6F036FC08E1C}"/>
              </a:ext>
            </a:extLst>
          </p:cNvPr>
          <p:cNvSpPr/>
          <p:nvPr/>
        </p:nvSpPr>
        <p:spPr>
          <a:xfrm>
            <a:off x="210789" y="1041832"/>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a:extLst>
              <a:ext uri="{FF2B5EF4-FFF2-40B4-BE49-F238E27FC236}">
                <a16:creationId xmlns:a16="http://schemas.microsoft.com/office/drawing/2014/main" id="{DB89B166-9234-E146-2221-667E10EA4B5E}"/>
              </a:ext>
            </a:extLst>
          </p:cNvPr>
          <p:cNvSpPr/>
          <p:nvPr/>
        </p:nvSpPr>
        <p:spPr>
          <a:xfrm>
            <a:off x="4332397" y="1041832"/>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a:extLst>
              <a:ext uri="{FF2B5EF4-FFF2-40B4-BE49-F238E27FC236}">
                <a16:creationId xmlns:a16="http://schemas.microsoft.com/office/drawing/2014/main" id="{23A318A8-91E2-6CBB-83BE-9A3CB6C91F32}"/>
              </a:ext>
            </a:extLst>
          </p:cNvPr>
          <p:cNvSpPr/>
          <p:nvPr/>
        </p:nvSpPr>
        <p:spPr>
          <a:xfrm>
            <a:off x="210789" y="10418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a:extLst>
              <a:ext uri="{FF2B5EF4-FFF2-40B4-BE49-F238E27FC236}">
                <a16:creationId xmlns:a16="http://schemas.microsoft.com/office/drawing/2014/main" id="{D20BFC21-5190-5F06-8ADA-4589368BE763}"/>
              </a:ext>
            </a:extLst>
          </p:cNvPr>
          <p:cNvSpPr/>
          <p:nvPr/>
        </p:nvSpPr>
        <p:spPr>
          <a:xfrm>
            <a:off x="130350" y="1425881"/>
            <a:ext cx="8654698" cy="3455608"/>
          </a:xfrm>
          <a:prstGeom prst="rect">
            <a:avLst/>
          </a:prstGeom>
          <a:noFill/>
          <a:ln/>
        </p:spPr>
        <p:txBody>
          <a:bodyPr wrap="square" rtlCol="0" anchor="t"/>
          <a:lstStyle/>
          <a:p>
            <a:pPr marL="285750" indent="-285750">
              <a:buFont typeface="Wingdings" panose="05000000000000000000" pitchFamily="2" charset="2"/>
              <a:buChar char="Ø"/>
            </a:pPr>
            <a:r>
              <a:rPr lang="en-US" sz="1600" dirty="0"/>
              <a:t>Data is </a:t>
            </a:r>
            <a:r>
              <a:rPr lang="en-US" sz="1600" b="1" dirty="0"/>
              <a:t>cleaned and preprocessed</a:t>
            </a:r>
            <a:r>
              <a:rPr lang="en-US" sz="1600" dirty="0"/>
              <a:t> by removing missing values and irrelevant entries </a:t>
            </a:r>
          </a:p>
          <a:p>
            <a:pPr marL="285750" indent="-285750">
              <a:buFont typeface="Wingdings" panose="05000000000000000000" pitchFamily="2" charset="2"/>
              <a:buChar char="Ø"/>
            </a:pPr>
            <a:r>
              <a:rPr lang="en-US" sz="1600" dirty="0"/>
              <a:t>Text feedback is </a:t>
            </a:r>
            <a:r>
              <a:rPr lang="en-US" sz="1600" b="1" dirty="0"/>
              <a:t>transformed into structured format</a:t>
            </a:r>
            <a:r>
              <a:rPr lang="en-US" sz="1600" dirty="0"/>
              <a:t> for analysis </a:t>
            </a:r>
          </a:p>
          <a:p>
            <a:pPr marL="285750" indent="-285750">
              <a:buFont typeface="Wingdings" panose="05000000000000000000" pitchFamily="2" charset="2"/>
              <a:buChar char="Ø"/>
            </a:pPr>
            <a:r>
              <a:rPr lang="en-US" sz="1600" b="1" dirty="0"/>
              <a:t>Sentiment analysis</a:t>
            </a:r>
            <a:r>
              <a:rPr lang="en-US" sz="1600" dirty="0"/>
              <a:t> is applied to classify comments as positive or negative </a:t>
            </a:r>
          </a:p>
          <a:p>
            <a:pPr marL="285750" indent="-285750">
              <a:buFont typeface="Wingdings" panose="05000000000000000000" pitchFamily="2" charset="2"/>
              <a:buChar char="Ø"/>
            </a:pPr>
            <a:r>
              <a:rPr lang="en-US" sz="1600" b="1" dirty="0"/>
              <a:t>Statistical analysis</a:t>
            </a:r>
            <a:r>
              <a:rPr lang="en-US" sz="1600" dirty="0"/>
              <a:t> is performed on ratings to calculate averages and performance scores </a:t>
            </a:r>
          </a:p>
          <a:p>
            <a:pPr marL="285750" indent="-285750">
              <a:buFont typeface="Wingdings" panose="05000000000000000000" pitchFamily="2" charset="2"/>
              <a:buChar char="Ø"/>
            </a:pPr>
            <a:r>
              <a:rPr lang="en-US" sz="1600" b="1" dirty="0"/>
              <a:t>Correlation analysis</a:t>
            </a:r>
            <a:r>
              <a:rPr lang="en-US" sz="1600" dirty="0"/>
              <a:t> identifies relationships between teaching parameters (e.g., communication vs overall rating) </a:t>
            </a:r>
          </a:p>
          <a:p>
            <a:pPr marL="285750" indent="-285750">
              <a:buFont typeface="Wingdings" panose="05000000000000000000" pitchFamily="2" charset="2"/>
              <a:buChar char="Ø"/>
            </a:pPr>
            <a:r>
              <a:rPr lang="en-US" sz="1600" b="1" dirty="0"/>
              <a:t>Trend analysis</a:t>
            </a:r>
            <a:r>
              <a:rPr lang="en-US" sz="1600" dirty="0"/>
              <a:t> is used to track performance over time</a:t>
            </a:r>
          </a:p>
          <a:p>
            <a:pPr marL="0" indent="0">
              <a:buNone/>
            </a:pPr>
            <a:endParaRPr lang="en-US" sz="1600" dirty="0">
              <a:latin typeface="Lato" panose="020F0502020204030203"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914915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D8E5-014D-C9C3-471A-CD6D495C756B}"/>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0C9476E-D490-54C2-6946-B5ADEC82EB77}"/>
              </a:ext>
            </a:extLst>
          </p:cNvPr>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14" name="Shape 12">
            <a:extLst>
              <a:ext uri="{FF2B5EF4-FFF2-40B4-BE49-F238E27FC236}">
                <a16:creationId xmlns:a16="http://schemas.microsoft.com/office/drawing/2014/main" id="{C805FC63-5647-023F-3532-B5110924B542}"/>
              </a:ext>
            </a:extLst>
          </p:cNvPr>
          <p:cNvSpPr/>
          <p:nvPr/>
        </p:nvSpPr>
        <p:spPr>
          <a:xfrm>
            <a:off x="130350" y="1058879"/>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6" name="Text 14">
            <a:extLst>
              <a:ext uri="{FF2B5EF4-FFF2-40B4-BE49-F238E27FC236}">
                <a16:creationId xmlns:a16="http://schemas.microsoft.com/office/drawing/2014/main" id="{4E805E80-51B4-F6E3-B239-4E2B0EA5FE21}"/>
              </a:ext>
            </a:extLst>
          </p:cNvPr>
          <p:cNvSpPr/>
          <p:nvPr/>
        </p:nvSpPr>
        <p:spPr>
          <a:xfrm>
            <a:off x="130350" y="1058879"/>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9" name="Shape 17">
            <a:extLst>
              <a:ext uri="{FF2B5EF4-FFF2-40B4-BE49-F238E27FC236}">
                <a16:creationId xmlns:a16="http://schemas.microsoft.com/office/drawing/2014/main" id="{F19F4289-2016-D85E-46D7-27DCC1599617}"/>
              </a:ext>
            </a:extLst>
          </p:cNvPr>
          <p:cNvSpPr/>
          <p:nvPr/>
        </p:nvSpPr>
        <p:spPr>
          <a:xfrm>
            <a:off x="4245150" y="1041832"/>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4" name="TextBox 23">
            <a:extLst>
              <a:ext uri="{FF2B5EF4-FFF2-40B4-BE49-F238E27FC236}">
                <a16:creationId xmlns:a16="http://schemas.microsoft.com/office/drawing/2014/main" id="{45C804BC-E1E0-2A78-43E3-598EDCB5B877}"/>
              </a:ext>
            </a:extLst>
          </p:cNvPr>
          <p:cNvSpPr txBox="1"/>
          <p:nvPr/>
        </p:nvSpPr>
        <p:spPr>
          <a:xfrm>
            <a:off x="420180" y="1681089"/>
            <a:ext cx="7464761" cy="1754326"/>
          </a:xfrm>
          <a:prstGeom prst="rect">
            <a:avLst/>
          </a:prstGeom>
          <a:noFill/>
        </p:spPr>
        <p:txBody>
          <a:bodyPr wrap="square" rtlCol="0">
            <a:spAutoFit/>
          </a:bodyPr>
          <a:lstStyle/>
          <a:p>
            <a:pPr marL="285750" indent="-285750">
              <a:buFont typeface="Wingdings" panose="05000000000000000000" pitchFamily="2" charset="2"/>
              <a:buChar char="Ø"/>
            </a:pPr>
            <a:r>
              <a:rPr lang="en-US" b="1" dirty="0"/>
              <a:t>Excel</a:t>
            </a:r>
            <a:r>
              <a:rPr lang="en-US" dirty="0"/>
              <a:t> is used for data storage, cleaning, and preprocessing </a:t>
            </a:r>
          </a:p>
          <a:p>
            <a:pPr marL="285750" indent="-285750">
              <a:buFont typeface="Wingdings" panose="05000000000000000000" pitchFamily="2" charset="2"/>
              <a:buChar char="Ø"/>
            </a:pPr>
            <a:r>
              <a:rPr lang="en-US" b="1" dirty="0"/>
              <a:t>Power BI</a:t>
            </a:r>
            <a:r>
              <a:rPr lang="en-US" dirty="0"/>
              <a:t> is used to create interactive dashboards and visualizations </a:t>
            </a:r>
          </a:p>
          <a:p>
            <a:pPr marL="285750" indent="-285750">
              <a:buFont typeface="Wingdings" panose="05000000000000000000" pitchFamily="2" charset="2"/>
              <a:buChar char="Ø"/>
            </a:pPr>
            <a:r>
              <a:rPr lang="en-US" b="1" dirty="0"/>
              <a:t>AI tools / Copilot</a:t>
            </a:r>
            <a:r>
              <a:rPr lang="en-US" dirty="0"/>
              <a:t> are used for generating insights and summarizing feedback </a:t>
            </a:r>
          </a:p>
          <a:p>
            <a:pPr marL="285750" indent="-285750">
              <a:buFont typeface="Wingdings" panose="05000000000000000000" pitchFamily="2" charset="2"/>
              <a:buChar char="Ø"/>
            </a:pPr>
            <a:r>
              <a:rPr lang="en-US" dirty="0"/>
              <a:t>Integration of tools enables </a:t>
            </a:r>
            <a:r>
              <a:rPr lang="en-US" b="1" dirty="0"/>
              <a:t>automated analysis and real-time insights</a:t>
            </a:r>
            <a:r>
              <a:rPr lang="en-US" dirty="0"/>
              <a:t> </a:t>
            </a:r>
          </a:p>
          <a:p>
            <a:endParaRPr lang="en-IN" dirty="0"/>
          </a:p>
        </p:txBody>
      </p:sp>
    </p:spTree>
    <p:custDataLst>
      <p:tags r:id="rId1"/>
    </p:custDataLst>
    <p:extLst>
      <p:ext uri="{BB962C8B-B14F-4D97-AF65-F5344CB8AC3E}">
        <p14:creationId xmlns:p14="http://schemas.microsoft.com/office/powerpoint/2010/main" val="804538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3674E-4D53-C064-EFBB-EA3B4A8A350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82283BF-767D-6B72-6105-077DF8B7CC9E}"/>
              </a:ext>
            </a:extLst>
          </p:cNvPr>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14" name="Shape 12">
            <a:extLst>
              <a:ext uri="{FF2B5EF4-FFF2-40B4-BE49-F238E27FC236}">
                <a16:creationId xmlns:a16="http://schemas.microsoft.com/office/drawing/2014/main" id="{F987E3E6-3838-ECA6-9B3D-03D493DAC259}"/>
              </a:ext>
            </a:extLst>
          </p:cNvPr>
          <p:cNvSpPr/>
          <p:nvPr/>
        </p:nvSpPr>
        <p:spPr>
          <a:xfrm>
            <a:off x="130350" y="106450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a:extLst>
              <a:ext uri="{FF2B5EF4-FFF2-40B4-BE49-F238E27FC236}">
                <a16:creationId xmlns:a16="http://schemas.microsoft.com/office/drawing/2014/main" id="{6C2A02FD-373B-40E6-98F0-7DB44D57FA77}"/>
              </a:ext>
            </a:extLst>
          </p:cNvPr>
          <p:cNvSpPr/>
          <p:nvPr/>
        </p:nvSpPr>
        <p:spPr>
          <a:xfrm>
            <a:off x="4245150" y="106450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a:extLst>
              <a:ext uri="{FF2B5EF4-FFF2-40B4-BE49-F238E27FC236}">
                <a16:creationId xmlns:a16="http://schemas.microsoft.com/office/drawing/2014/main" id="{BEC040FA-D00B-C462-E239-6A16BA0F6991}"/>
              </a:ext>
            </a:extLst>
          </p:cNvPr>
          <p:cNvSpPr/>
          <p:nvPr/>
        </p:nvSpPr>
        <p:spPr>
          <a:xfrm>
            <a:off x="130350" y="1050439"/>
            <a:ext cx="3840480" cy="310896"/>
          </a:xfrm>
          <a:prstGeom prst="rect">
            <a:avLst/>
          </a:prstGeom>
          <a:noFill/>
          <a:ln/>
        </p:spPr>
        <p:txBody>
          <a:bodyPr wrap="square" rtlCol="0" anchor="ctr"/>
          <a:lstStyle/>
          <a:p>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17" name="Text 15">
            <a:extLst>
              <a:ext uri="{FF2B5EF4-FFF2-40B4-BE49-F238E27FC236}">
                <a16:creationId xmlns:a16="http://schemas.microsoft.com/office/drawing/2014/main" id="{06E1D5B9-77FD-AD25-83F7-B4821C017242}"/>
              </a:ext>
            </a:extLst>
          </p:cNvPr>
          <p:cNvSpPr/>
          <p:nvPr/>
        </p:nvSpPr>
        <p:spPr>
          <a:xfrm>
            <a:off x="130350" y="1549019"/>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01096FD4-7E10-5FE8-B974-1CFC27E03E73}"/>
              </a:ext>
            </a:extLst>
          </p:cNvPr>
          <p:cNvPicPr>
            <a:picLocks noChangeAspect="1"/>
          </p:cNvPicPr>
          <p:nvPr/>
        </p:nvPicPr>
        <p:blipFill>
          <a:blip r:embed="rId4"/>
          <a:stretch>
            <a:fillRect/>
          </a:stretch>
        </p:blipFill>
        <p:spPr>
          <a:xfrm>
            <a:off x="295422" y="1549019"/>
            <a:ext cx="7305527" cy="3445012"/>
          </a:xfrm>
          <a:prstGeom prst="rect">
            <a:avLst/>
          </a:prstGeom>
        </p:spPr>
      </p:pic>
    </p:spTree>
    <p:custDataLst>
      <p:tags r:id="rId1"/>
    </p:custDataLst>
    <p:extLst>
      <p:ext uri="{BB962C8B-B14F-4D97-AF65-F5344CB8AC3E}">
        <p14:creationId xmlns:p14="http://schemas.microsoft.com/office/powerpoint/2010/main" val="3647308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30350" y="965200"/>
            <a:ext cx="7885889" cy="4003040"/>
          </a:xfrm>
          <a:prstGeom prst="rect">
            <a:avLst/>
          </a:prstGeom>
          <a:noFill/>
          <a:ln/>
        </p:spPr>
        <p:txBody>
          <a:bodyPr wrap="square" rtlCol="0" anchor="t"/>
          <a:lstStyle/>
          <a:p>
            <a:r>
              <a:rPr lang="en-IN" dirty="0"/>
              <a:t>This project demonstrated the value of applying educational analytics to student feedback by systematically cleaning data, </a:t>
            </a:r>
            <a:r>
              <a:rPr lang="en-IN" dirty="0" err="1"/>
              <a:t>analyzing</a:t>
            </a:r>
            <a:r>
              <a:rPr lang="en-IN" dirty="0"/>
              <a:t> sentiment, and visualizing course and faculty performance. Through the use of tools such as Excel, Power BI, and AI Copilot, raw feedback was transformed into reliable datasets and actionable insights. The findings revealed that while overall student sentiment was largely positive, a significant proportion expressed concerns about clarity, pace, and interaction, highlighting areas for improvement. Course-level analysis showed that HRM and Banking achieved the highest ratings, whereas Business Management required focused attention. Faculty ratings also varied, with Priya receiving the strongest score and Ravi showing the greatest need for support. Importantly, AI-assisted prompts reduced reporting time and ensured reproducibility, making the workflow efficient and scalable. Overall, the project underscores the importance of data-driven decision-making in education, providing a roadmap for enhancing teaching effectiveness, improving student engagement, and fostering continuous academic development.</a:t>
            </a:r>
          </a:p>
          <a:p>
            <a:r>
              <a:rPr lang="en-IN" b="1" dirty="0"/>
              <a:t> </a:t>
            </a:r>
            <a:endParaRPr lang="en-IN" dirty="0"/>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8020488" y="1763055"/>
            <a:ext cx="1123512" cy="1033536"/>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6" y="1082104"/>
            <a:ext cx="7367799" cy="331405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1045" y="965200"/>
            <a:ext cx="1228069" cy="2234455"/>
          </a:xfrm>
          <a:prstGeom prst="rect">
            <a:avLst/>
          </a:prstGeom>
        </p:spPr>
      </p:pic>
      <p:sp>
        <p:nvSpPr>
          <p:cNvPr id="9" name="TextBox 8">
            <a:extLst>
              <a:ext uri="{FF2B5EF4-FFF2-40B4-BE49-F238E27FC236}">
                <a16:creationId xmlns:a16="http://schemas.microsoft.com/office/drawing/2014/main" id="{917E681C-B2B6-4FE2-2238-BDA3AFF9FF94}"/>
              </a:ext>
            </a:extLst>
          </p:cNvPr>
          <p:cNvSpPr txBox="1"/>
          <p:nvPr/>
        </p:nvSpPr>
        <p:spPr>
          <a:xfrm>
            <a:off x="203200" y="1208452"/>
            <a:ext cx="7367799" cy="3785652"/>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The project can be further enhanced by integrating advanced technologies and expanding its capabilities. Real-time data pipelines can be implemented using tools like Power Automate or APIs to enable continuous feedback updates. Machine learning models such as forecasting and anomaly detection can be applied to generate predictive insights.</a:t>
            </a:r>
          </a:p>
          <a:p>
            <a:pPr algn="just"/>
            <a:r>
              <a:rPr lang="en-US" sz="1600" dirty="0">
                <a:latin typeface="Times New Roman" panose="02020603050405020304" pitchFamily="18" charset="0"/>
                <a:cs typeface="Times New Roman" panose="02020603050405020304" pitchFamily="18" charset="0"/>
              </a:rPr>
              <a:t>Additionally, developing a user-friendly web or Power Apps interface will improve accessibility for non-technical users. The system can be expanded by incorporating diverse datasets such as multi-semester feedback, attendance, and academic performance for deeper analysis.</a:t>
            </a:r>
          </a:p>
          <a:p>
            <a:pPr algn="just"/>
            <a:r>
              <a:rPr lang="en-US" sz="1600" dirty="0">
                <a:latin typeface="Times New Roman" panose="02020603050405020304" pitchFamily="18" charset="0"/>
                <a:cs typeface="Times New Roman" panose="02020603050405020304" pitchFamily="18" charset="0"/>
              </a:rPr>
              <a:t>Further improvements include building a standardized AI prompt library for consistent analysis and applying advanced NLP techniques to better understand complex sentiments. Long-term performance tracking across academic cycles can also be introduced to identify trends and support continuous improvement in teaching and learning outcomes.</a:t>
            </a:r>
          </a:p>
          <a:p>
            <a:endParaRPr lang="en-IN" sz="1600"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TotalTime>
  <Words>893</Words>
  <Application>Microsoft Office PowerPoint</Application>
  <PresentationFormat>On-screen Show (16:9)</PresentationFormat>
  <Paragraphs>84</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Lato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mallika s</cp:lastModifiedBy>
  <cp:revision>26</cp:revision>
  <dcterms:created xsi:type="dcterms:W3CDTF">2026-02-18T09:17:23Z</dcterms:created>
  <dcterms:modified xsi:type="dcterms:W3CDTF">2026-04-14T06:11:13Z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